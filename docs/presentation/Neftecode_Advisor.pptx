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c7477c3e454185" /><Relationship Type="http://schemas.openxmlformats.org/officeDocument/2006/relationships/extended-properties" Target="/docProps/app.xml" Id="R9802da719b8e4532" /><Relationship Type="http://schemas.openxmlformats.org/officeDocument/2006/relationships/officeDocument" Target="/ppt/presentation.xml" Id="Ra3e967650ebc4e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0d1874c3384e72"/>
  </p:sldMasterIdLst>
  <p:notesMasterIdLst>
    <p:notesMasterId xmlns:r="http://schemas.openxmlformats.org/officeDocument/2006/relationships" r:id="R0e78b6620d7b43f9"/>
  </p:notesMasterIdLst>
  <p:sldIdLst>
    <p:sldId xmlns:r="http://schemas.openxmlformats.org/officeDocument/2006/relationships" id="256" r:id="Rc7a63e1322d042af"/>
    <p:sldId xmlns:r="http://schemas.openxmlformats.org/officeDocument/2006/relationships" id="257" r:id="Rd531138a8de9483e"/>
    <p:sldId xmlns:r="http://schemas.openxmlformats.org/officeDocument/2006/relationships" id="258" r:id="Re130ff2f958246e0"/>
    <p:sldId xmlns:r="http://schemas.openxmlformats.org/officeDocument/2006/relationships" id="259" r:id="R8060c2e3b56248e9"/>
    <p:sldId xmlns:r="http://schemas.openxmlformats.org/officeDocument/2006/relationships" id="260" r:id="R326ed8323d454f2a"/>
    <p:sldId xmlns:r="http://schemas.openxmlformats.org/officeDocument/2006/relationships" id="261" r:id="Raeb5319899764a44"/>
    <p:sldId xmlns:r="http://schemas.openxmlformats.org/officeDocument/2006/relationships" id="262" r:id="R88eb9585fc0e4606"/>
    <p:sldId xmlns:r="http://schemas.openxmlformats.org/officeDocument/2006/relationships" id="263" r:id="R6fd3366e25fd48ba"/>
    <p:sldId xmlns:r="http://schemas.openxmlformats.org/officeDocument/2006/relationships" id="264" r:id="R6131ae185be642e6"/>
    <p:sldId xmlns:r="http://schemas.openxmlformats.org/officeDocument/2006/relationships" id="265" r:id="R51993be68c5742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863398c1934589" /><Relationship Type="http://schemas.openxmlformats.org/officeDocument/2006/relationships/slideMaster" Target="/ppt/slideMasters/slideMaster1.xml" Id="Rb20d1874c3384e72" /><Relationship Type="http://schemas.openxmlformats.org/officeDocument/2006/relationships/notesMaster" Target="/ppt/notesMasters/notesMaster1.xml" Id="R0e78b6620d7b43f9" /><Relationship Type="http://schemas.openxmlformats.org/officeDocument/2006/relationships/presProps" Target="/ppt/presProps.xml" Id="R258c551de4f14f6c" /><Relationship Type="http://schemas.openxmlformats.org/officeDocument/2006/relationships/tableStyles" Target="/ppt/tableStyles.xml" Id="R66108f990e284d11" /><Relationship Type="http://schemas.openxmlformats.org/officeDocument/2006/relationships/slide" Target="/ppt/slides/slide1.xml" Id="Rc7a63e1322d042af" /><Relationship Type="http://schemas.openxmlformats.org/officeDocument/2006/relationships/slide" Target="/ppt/slides/slide2.xml" Id="Rd531138a8de9483e" /><Relationship Type="http://schemas.openxmlformats.org/officeDocument/2006/relationships/slide" Target="/ppt/slides/slide3.xml" Id="Re130ff2f958246e0" /><Relationship Type="http://schemas.openxmlformats.org/officeDocument/2006/relationships/slide" Target="/ppt/slides/slide4.xml" Id="R8060c2e3b56248e9" /><Relationship Type="http://schemas.openxmlformats.org/officeDocument/2006/relationships/slide" Target="/ppt/slides/slide5.xml" Id="R326ed8323d454f2a" /><Relationship Type="http://schemas.openxmlformats.org/officeDocument/2006/relationships/slide" Target="/ppt/slides/slide6.xml" Id="Raeb5319899764a44" /><Relationship Type="http://schemas.openxmlformats.org/officeDocument/2006/relationships/slide" Target="/ppt/slides/slide7.xml" Id="R88eb9585fc0e4606" /><Relationship Type="http://schemas.openxmlformats.org/officeDocument/2006/relationships/slide" Target="/ppt/slides/slide8.xml" Id="R6fd3366e25fd48ba" /><Relationship Type="http://schemas.openxmlformats.org/officeDocument/2006/relationships/slide" Target="/ppt/slides/slide9.xml" Id="R6131ae185be642e6" /><Relationship Type="http://schemas.openxmlformats.org/officeDocument/2006/relationships/slide" Target="/ppt/slides/slide10.xml" Id="R51993be68c5742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01e963927c4d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19c733d2184cfc" /><Relationship Type="http://schemas.openxmlformats.org/officeDocument/2006/relationships/notesMaster" Target="/ppt/notesMasters/notesMaster1.xml" Id="Rbb9e88524ace4b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a55399e36645c5" /><Relationship Type="http://schemas.openxmlformats.org/officeDocument/2006/relationships/notesMaster" Target="/ppt/notesMasters/notesMaster1.xml" Id="R5596587956df47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48fe8a327e4004" /><Relationship Type="http://schemas.openxmlformats.org/officeDocument/2006/relationships/notesMaster" Target="/ppt/notesMasters/notesMaster1.xml" Id="R7a00dc8b92d74e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a3a056d0974214" /><Relationship Type="http://schemas.openxmlformats.org/officeDocument/2006/relationships/notesMaster" Target="/ppt/notesMasters/notesMaster1.xml" Id="R02114f6148a048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adc6aaff9c4b66" /><Relationship Type="http://schemas.openxmlformats.org/officeDocument/2006/relationships/notesMaster" Target="/ppt/notesMasters/notesMaster1.xml" Id="R8778a87b42594b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142b396e9647c9" /><Relationship Type="http://schemas.openxmlformats.org/officeDocument/2006/relationships/notesMaster" Target="/ppt/notesMasters/notesMaster1.xml" Id="R6d9cf56ef0a049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9382ed7ae946d9" /><Relationship Type="http://schemas.openxmlformats.org/officeDocument/2006/relationships/notesMaster" Target="/ppt/notesMasters/notesMaster1.xml" Id="Rc323773945fa49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654a57cbc848de" /><Relationship Type="http://schemas.openxmlformats.org/officeDocument/2006/relationships/notesMaster" Target="/ppt/notesMasters/notesMaster1.xml" Id="R2177640db69c43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5f98e7d82a471f" /><Relationship Type="http://schemas.openxmlformats.org/officeDocument/2006/relationships/notesMaster" Target="/ppt/notesMasters/notesMaster1.xml" Id="R8638a028816a45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c16d8e34904e1f" /><Relationship Type="http://schemas.openxmlformats.org/officeDocument/2006/relationships/notesMaster" Target="/ppt/notesMasters/notesMaster1.xml" Id="Rf6ba093ec63f4c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dashboard screenshot generated by frontend/scripts/e2e.mjs on 2026-09-22.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frontend/src/components/ModelledDashboard.tsx.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docs/DATA_PREPARATION.md; artifacts/metrics.json; organizer clarification: LIMS timestamp is sample time, publication delay up to 4h.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src/neftecode_hackathon/contracts.py, api, orchestration and persistence packages.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docs/RESULTS.md and artifacts/metrics.json. Validation persistence MAE 0.573; test 0.706. Test HGB MAE 1.184.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image: context/АВТ_схемы.pdf, page 2. Formulas: organizer clarifications recorded in docs/ORGANIZER_CLARIFICATIONS.md.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dashboard screenshot and modelled preset sulfur-shock. Values are explicit modelled what-if outputs, not plant setpoints.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Quality limits source: TR TS 013/2011 Appendix 3, https://eec.eaeunion.org/upload/medialibrary/4ae/P_826_1.pdf. 2-EHN assumptions from organizer clarification and model config.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clean demo Compose run on 2026-09-22; pytest and frontend command outputs; frontend/scripts/e2e.mjs.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README.md. No participant names requested.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a27f12a2443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6471fa99df477b" /><Relationship Type="http://schemas.openxmlformats.org/officeDocument/2006/relationships/slideLayout" Target="/ppt/slideLayouts/slideLayout1.xml" Id="Ra716b66f382145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16b66f382145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18d1d10fa4e3b" /><Relationship Type="http://schemas.openxmlformats.org/officeDocument/2006/relationships/image" Target="/ppt/media/image.png" Id="Re29aaff938404f11" /><Relationship Type="http://schemas.openxmlformats.org/officeDocument/2006/relationships/notesSlide" Target="/ppt/notesSlides/notesSlide1.xml" Id="R9a0545258f6c47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004fb416f4f5b" /><Relationship Type="http://schemas.openxmlformats.org/officeDocument/2006/relationships/notesSlide" Target="/ppt/notesSlides/notesSlide2.xml" Id="Rba10cdf650c540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4c954ee984024" /><Relationship Type="http://schemas.openxmlformats.org/officeDocument/2006/relationships/notesSlide" Target="/ppt/notesSlides/notesSlide3.xml" Id="R06b405c6da7d48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28455c1a049d1" /><Relationship Type="http://schemas.openxmlformats.org/officeDocument/2006/relationships/notesSlide" Target="/ppt/notesSlides/notesSlide4.xml" Id="R50b533b35c714b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59539dced4981" /><Relationship Type="http://schemas.openxmlformats.org/officeDocument/2006/relationships/chart" Target="/ppt/slides/charts/chart1.xml" Id="Rf0da62b91da3444c" /><Relationship Type="http://schemas.openxmlformats.org/officeDocument/2006/relationships/notesSlide" Target="/ppt/notesSlides/notesSlide5.xml" Id="Rcf47aba6e33f4f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4bd50409845af" /><Relationship Type="http://schemas.openxmlformats.org/officeDocument/2006/relationships/image" Target="/ppt/media/image.jpeg" Id="Ra486bfef05f648ea" /><Relationship Type="http://schemas.openxmlformats.org/officeDocument/2006/relationships/notesSlide" Target="/ppt/notesSlides/notesSlide6.xml" Id="Re93bd4e7ab8d4e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2183a1b1545c7" /><Relationship Type="http://schemas.openxmlformats.org/officeDocument/2006/relationships/image" Target="/ppt/media/image2.png" Id="R6adc37f0c40d45d4" /><Relationship Type="http://schemas.openxmlformats.org/officeDocument/2006/relationships/notesSlide" Target="/ppt/notesSlides/notesSlide7.xml" Id="R71fc651fde8f48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2397c566640d6" /><Relationship Type="http://schemas.openxmlformats.org/officeDocument/2006/relationships/notesSlide" Target="/ppt/notesSlides/notesSlide8.xml" Id="Rae608d467b8942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78d3d66a64e39" /><Relationship Type="http://schemas.openxmlformats.org/officeDocument/2006/relationships/notesSlide" Target="/ppt/notesSlides/notesSlide9.xml" Id="R2c9f198ff7bd43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d45b14c5140db" /><Relationship Type="http://schemas.openxmlformats.org/officeDocument/2006/relationships/notesSlide" Target="/ppt/notesSlides/notesSlide10.xml" Id="R03eea15c290d4d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Persistence</c:v>
          </c:tx>
          <c:spPr>
            <a:solidFill xmlns:a="http://schemas.openxmlformats.org/drawingml/2006/main">
              <a:srgbClr val="08775A"/>
            </a:solidFill>
          </c:spPr>
          <c:cat>
            <c:strRef>
              <c:f>'Chart Data'!$A$2:$A$3</c:f>
              <c:strCache>
                <c:ptCount val="2"/>
                <c:pt idx="0">
                  <c:v>Validation</c:v>
                </c:pt>
                <c:pt idx="1">
                  <c:v>Test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0.573</c:v>
                </c:pt>
                <c:pt idx="1">
                  <c:v>0.706</c:v>
                </c:pt>
              </c:numCache>
            </c:numRef>
          </c:val>
        </c:ser>
        <c:ser>
          <c:idx val="1"/>
          <c:order val="1"/>
          <c:tx>
            <c:v>HGB</c:v>
          </c:tx>
          <c:spPr>
            <a:solidFill xmlns:a="http://schemas.openxmlformats.org/drawingml/2006/main">
              <a:srgbClr val="E09938"/>
            </a:solidFill>
          </c:spPr>
          <c:cat>
            <c:strRef>
              <c:f>'Chart Data'!$C$2:$C$3</c:f>
              <c:strCache>
                <c:ptCount val="2"/>
                <c:pt idx="0">
                  <c:v>Validation</c:v>
                </c:pt>
                <c:pt idx="1">
                  <c:v>Test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0.621</c:v>
                </c:pt>
                <c:pt idx="1">
                  <c:v>1.184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69ECA-31C8-4BCE-B3B3-3DB35C81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762000"/>
            <a:ext cx="5905500" cy="838200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08775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191B7-A2D7-44B2-8178-38A64B17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NEFTECODE ADVISOR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FB044-7028-4DD7-AEAC-7A77A772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88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Советчик для полной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цепочки дизельного топлива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D87E1-B744-4D38-B295-2FB14382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АВТ → гидроочистка → блендинг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668E2-43D2-4530-BFEF-2A1E5D5C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ED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ED7CE"/>
                </a:solidFill>
                <a:latin typeface="Helvetica Neue"/>
                <a:ea typeface="Helvetica Neue"/>
                <a:cs typeface="Helvetica Neue"/>
              </a:rPr>
              <a:t>Два честно разделённых режима: исторический прогноз и редактируемый modelled what-if.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CF346-12F6-4931-B240-6090D1C3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30003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099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EDC64-AA13-45BF-BD19-F71CD3B3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505450"/>
            <a:ext cx="2828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НЕ УПРАВЛЯЕТ ОБОРУДОВАНИЕМ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aaff938404f11"/>
          <a:srcRect xmlns:a="http://schemas.openxmlformats.org/drawingml/2006/main" l="0" t="9355" r="0" b="9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1047750"/>
            <a:ext cx="4095750" cy="4857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</p:spTree>
    <p:extLst>
      <p:ext uri="{BB962C8B-B14F-4D97-AF65-F5344CB8AC3E}">
        <p14:creationId xmlns:p14="http://schemas.microsoft.com/office/powerpoint/2010/main" val="349492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C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33204F-F919-4A51-97FC-27598CEB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РАБОЧИЙ ПРОЦЕСС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78250-7DB4-423B-A228-9FF855B7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Оператор получает решение, а не ещё один график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ED204-FD10-4DFF-AB58-83913717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FF0AD-FACB-4BF2-B0D9-072B4998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2000250" cy="2476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3AA63-3E3D-40E5-9C5F-4BBC1C04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025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DE8C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10E1D-D4A6-4FDB-BCA8-FF3A0D59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452DC-A2AB-4782-9545-643C911F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Выбрать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20B23-D716-40B9-B9B2-E9969A9C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051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готовый preset или свой ввод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177C8-51DB-44EB-8306-B5B67672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57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A2452-4216-490F-9233-473EE1E8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09750"/>
            <a:ext cx="2000250" cy="2476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5E104-22F9-4829-93D8-4482274E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00025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DE8C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CDCBA-04DE-46A0-9EDD-A0E2430A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19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F1D78-09B2-477F-838E-B28A102C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717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Изменить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E0FA2-62E5-4C7E-BD80-6E8C67B0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051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сырьё, P8/T11/F19, spec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F5273-A022-4424-8493-4EA91984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857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A4ACD-36A3-499D-B11F-29EFCAF6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809750"/>
            <a:ext cx="2000250" cy="2476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73384-EA08-4967-B5BA-30BECE75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00025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DE8C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2C8E7-49B0-430C-B143-FEDAB24E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19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AE171-B2D9-442A-83CD-7A8F49C1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5717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Сравнить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0495A-1A03-4531-931D-84AA57EE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051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baseline, system, operator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6BB86-FE55-4971-887C-F968BB70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57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474495-ECA3-4543-8E87-9759D604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809750"/>
            <a:ext cx="2000250" cy="2476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1A4EA-F389-4913-83E3-17BFB62F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DE8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C3A51-36F4-417F-88C3-BB37A76B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19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C80F1-B5BC-4072-925C-0480DCF1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717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Проверить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E21D42-B0D9-4D8F-970C-F53599F8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051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качество раньше proxy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12110-E393-49EC-83F2-53090D93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857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CD90A-DF4F-4677-8316-F6E74BC7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809750"/>
            <a:ext cx="2000250" cy="2476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FDFEE6-92F9-4538-972B-001D4663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00025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DE8C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FCA270-473E-4344-BCDE-3A6E3C60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19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78860E-8649-43AF-A5D3-645CCC7D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5717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Сохранить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8E9619-EA08-49C0-83BC-D2994FE4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1051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полный run и версии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AF00A6-665C-4426-8303-B2F552AD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9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Ввод остаётся редактируемым. Preset — только начальная точка.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C9EED9-AD8A-4412-B3C5-DCC8FD55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339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DE8C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F03F57-DFA0-4E3B-9809-0B86E0F4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530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180 мин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9F2EB1-5330-42B2-9785-A47DD821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33950"/>
            <a:ext cx="1409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DE8C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13752C-AF3D-4630-B2E9-4497B677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9530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шаг 60 мин</a:t>
            </a:r>
          </a:p>
        </p:txBody>
      </p:sp>
    </p:spTree>
    <p:extLst>
      <p:ext uri="{BB962C8B-B14F-4D97-AF65-F5344CB8AC3E}">
        <p14:creationId xmlns:p14="http://schemas.microsoft.com/office/powerpoint/2010/main" val="705552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2D055-32A3-4C5A-8C5C-0DABB0FF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ДАННЫЕ И ЗАЩИТА ОТ УТЕЧКИ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3DAEE-2181-4603-A7AE-6E3097BA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В момент t система знает только опубликованное к 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B284B-2C4C-44D3-A7AF-39EADB1C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82B1C-AE09-4845-8723-082B65FB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отбор ЛИМС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CCF7B-277C-4D67-8637-E579E871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099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09938"/>
                </a:solidFill>
                <a:latin typeface="Helvetica Neue"/>
                <a:ea typeface="Helvetica Neue"/>
                <a:cs typeface="Helvetica Neue"/>
              </a:rPr>
              <a:t>+ до 4 часов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C9C43-EB66-4A35-AEEF-EF0C226C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доступно 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0B102-86CC-4041-8A80-EA7F55EA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9620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DCD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D3D63-A082-46A2-AD25-7C8EC27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81225"/>
            <a:ext cx="209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11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D87F0-C34D-43CC-A4A4-BEE6E8BE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81225"/>
            <a:ext cx="209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93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9CC77-D30A-4CB4-AC31-CE947542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81225"/>
            <a:ext cx="209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75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281E4-9251-4BD0-BE4E-344EFF6B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measured_at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702B9-99D9-46A1-9547-4719EA3D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03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available_at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66750" y="3381375"/>
          <a:ext xmlns:a="http://schemas.openxmlformats.org/drawingml/2006/main" cx="108585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000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Правило</a:t>
                      </a:r>
                    </a:p>
                  </a:txBody>
                  <a:tcPr marL="91440" marR="91440" marT="45720" marB="45720">
                    <a:solidFill>
                      <a:srgbClr val="0B2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Реализация</a:t>
                      </a:r>
                    </a:p>
                  </a:txBody>
                  <a:tcPr marL="91440" marR="91440" marT="45720" marB="45720">
                    <a:solidFill>
                      <a:srgbClr val="0B21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Проверка</a:t>
                      </a:r>
                    </a:p>
                  </a:txBody>
                  <a:tcPr marL="91440" marR="91440" marT="45720" marB="45720">
                    <a:solidFill>
                      <a:srgbClr val="0B211A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211A"/>
                          </a:solidFill>
                        </a:rPr>
                        <a:t>Временной split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211A"/>
                          </a:solidFill>
                        </a:rPr>
                        <a:t>70 / 15 / 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211A"/>
                          </a:solidFill>
                        </a:rPr>
                        <a:t>test не участвует в выборе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211A"/>
                          </a:solidFill>
                        </a:rPr>
                        <a:t>Purge границ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211A"/>
                          </a:solidFill>
                        </a:rPr>
                        <a:t>target &lt; next origin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211A"/>
                          </a:solidFill>
                        </a:rPr>
                        <a:t>6 + 6 строк удалено</a:t>
                      </a:r>
                    </a:p>
                  </a:txBody>
                  <a:tcPr marL="91440" marR="91440" marT="45720" marB="4572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211A"/>
                          </a:solidFill>
                        </a:rPr>
                        <a:t>Источники качества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211A"/>
                          </a:solidFill>
                        </a:rPr>
                        <a:t>ЛИМС → ПАК → VAK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211A"/>
                          </a:solidFill>
                        </a:rPr>
                        <a:t>freshness обязателен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977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C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D163D8-A187-4FD2-B89E-94539A78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АРХИТЕКТУРА АГЕНТОВ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B4562-AFC2-4177-B1FD-316A2C20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Один контракт связывает расчёт, API, БД и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54CEA-786C-46F1-AF7E-611D349F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CFBC6-CA8B-40BA-804D-E2A051E1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70AC1-2467-4111-A912-6744F139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Snapshot /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460AE-9BDB-4300-95EB-96CF1F40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point-in-time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947B8-3B85-49DC-ACC3-8771C43F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240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52582-9F4C-40F8-A20B-38821792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764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87D82-57D8-4303-AA18-F6D6B12E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002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forecast +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1262C-4871-472B-9550-93698667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508F9-2BCB-408A-96F1-0A6278AF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956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Reliability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03906-845C-4673-8C44-11C4BED3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195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severity 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CBF4C-4310-4C51-B398-05EFC565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33625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8775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4E8DB-E65F-4FA8-AF1C-96ACB879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860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Evaluator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6157F-8081-448A-B4D1-FAB9BE6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09875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hard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A0D0E-4C73-4521-8F8A-98F945FF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20046-1B8F-40F6-99D5-6CF58178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860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Coordinator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DE00C-EE73-44FF-A469-95E18811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98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rank + 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D3F45-4E4B-49ED-AEE5-1CEBE48D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24000"/>
            <a:ext cx="133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FF8C5-89E4-48E9-AA1C-EA863F78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6764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React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9BF6E-6294-4DCE-96AC-4F2657D6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0002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B1D07-A8A6-4D9C-8DCD-7F487867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133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C15B2-0278-4EBC-B027-54A04E09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956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9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083EEB-993D-44AD-AA61-574ADC9B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619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891047-C0FC-4F25-B7F1-1E4CEAC5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97F37D-B500-4C11-9CD3-0E2D5081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6544AD-BDB4-4EC8-B55D-A3227B09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ACD535-E666-4A4D-BE57-0A73EA9E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908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4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2F74E7-F0E1-40A5-B65F-79FA76E2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contracts.py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254A04-CCC4-4B89-82F3-DBEE8F0B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72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единый DTO · OpenAPI · generated TypeScript</a:t>
            </a:r>
          </a:p>
        </p:txBody>
      </p:sp>
    </p:spTree>
    <p:extLst>
      <p:ext uri="{BB962C8B-B14F-4D97-AF65-F5344CB8AC3E}">
        <p14:creationId xmlns:p14="http://schemas.microsoft.com/office/powerpoint/2010/main" val="4827619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DCEAA-0394-4B77-9E5C-007A0AFD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КАЧЕСТВО HISTORICAL FORECAST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D11C1-5A30-4EF5-86B4-BC24A9C6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Простая модель победила — и мы это показали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FF47B-5E6D-4E29-A22E-0D97F59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666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da62b91da3444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3AAC4-A667-4CC4-8097-C14DFEB0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MAE, мг/кг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D9777-2F46-41C8-9B02-7D4BDE39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211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9EDD3-E17F-46D8-9A58-0E736CD9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0,706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158BE-211E-4926-92BB-9E4406FF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 MAE · n=28 447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E521B-CB51-412C-9B94-48D54490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429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CF3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709FE-C626-471D-9CB5-975584BB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81,9%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ACAB7-09CF-48AC-AFBB-2A02B79F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671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test coverage q90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D7C00-3B05-4842-BCDF-2CF02BD1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Интервал откалиброван на validation; на test только измерен.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14AE3-BC37-4190-980E-ADEFA557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34A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34A40"/>
                </a:solidFill>
                <a:latin typeface="Helvetica Neue"/>
                <a:ea typeface="Helvetica Neue"/>
                <a:cs typeface="Helvetica Neue"/>
              </a:rPr>
              <a:t>Это прогноз продолжения процесса, не доказательство эффекта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7228031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C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83B32-D1CC-456F-A502-943B680E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МОДЕЛЬ ПОЛНОЙ ЦЕПОЧКИ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9B6BF-241B-4C74-8853-2DD63604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Полная цепочка собрана из проверяемых стадий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C293B-641E-430F-A364-73F5567B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6bfef05f648ea"/>
          <a:stretch xmlns:a="http://schemas.openxmlformats.org/drawingml/2006/main"/>
        </p:blipFill>
        <p:spPr>
          <a:xfrm xmlns:a="http://schemas.openxmlformats.org/drawingml/2006/main">
            <a:off x="552450" y="1611722"/>
            <a:ext cx="5429250" cy="3844105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557CA-F0ED-4811-A83F-D65AF69C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381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F2BD3-316E-4B96-9F15-17AA8332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АВТ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0B40A-A519-4C51-B8EC-1B67D746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62125"/>
            <a:ext cx="214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VAK: T50/T90/T95</a:t>
            </a:r>
          </a:p>
          <a:p xmlns:a="http://schemas.openxmlformats.org/drawingml/2006/main">
            <a:pPr>
              <a:defRPr sz="112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CloudPoint / CFPP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200BC-EC41-422B-8D8D-16029458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1D7E0-DFF8-4637-A025-F88F7517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381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775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7D572-D85C-4CFF-8870-E82E250D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Гидроочистка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723F7-5A42-4355-8B41-EF553C0A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52775"/>
            <a:ext cx="214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P8 · T11 · F19</a:t>
            </a:r>
          </a:p>
          <a:p xmlns:a="http://schemas.openxmlformats.org/drawingml/2006/main">
            <a:pPr>
              <a:defRPr sz="1125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response + q90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45916-2BFD-44A8-8BEC-721A2AC1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C54FF-C003-4A35-9436-322421ED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4381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B77B6-8C62-4944-B691-5ADF237A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Блендинг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C5B69-7DFF-4B4D-BCDD-5E92E5BE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43425"/>
            <a:ext cx="214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S / T95 / ЦЧ</a:t>
            </a:r>
          </a:p>
          <a:p xmlns:a="http://schemas.openxmlformats.org/drawingml/2006/main">
            <a:pPr>
              <a:defRPr sz="112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2-EHN + cost proxy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024B4-42D4-429A-90DD-9E1A68C5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VAK проверяет missing и division-by-zero</a:t>
            </a:r>
          </a:p>
        </p:txBody>
      </p:sp>
    </p:spTree>
    <p:extLst>
      <p:ext uri="{BB962C8B-B14F-4D97-AF65-F5344CB8AC3E}">
        <p14:creationId xmlns:p14="http://schemas.microsoft.com/office/powerpoint/2010/main" val="6172603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60296-420B-4A8F-8008-72E54446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СЦЕНАРИЙ РОСТА СЕРЫ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BBC65-E6D4-4196-83D4-D011957E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Рост серы превращается в объяснимый план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70A71-F8E4-4B46-8914-4F8040B5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c37f0c40d45d4"/>
          <a:srcRect xmlns:a="http://schemas.openxmlformats.org/drawingml/2006/main" l="0" t="23639" r="0" b="23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28750"/>
            <a:ext cx="6191250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FE599-F59A-4301-AE0B-C4CB917F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CF3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71367-881F-4291-B314-E8A23F9E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573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DE576-6A96-41F4-931C-4DFDE77F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193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0,90 → 1,08% масс.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3C003-E2B2-44A1-8F8F-0A672ACD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14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0993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4BCAF-10A7-4219-B819-614E1216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00350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4806B-1EFC-461A-8250-2CD6867D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34A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34A40"/>
                </a:solidFill>
                <a:latin typeface="Helvetica Neue"/>
                <a:ea typeface="Helvetica Neue"/>
                <a:cs typeface="Helvetica Neue"/>
              </a:rPr>
              <a:t>10,25 мг/кг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682C9-90B6-4ED5-8871-AF2B6131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2430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DE8C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84B9D-118E-49A1-BA6E-B9075CC3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943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13288-C1D1-484D-AAF8-268CB9F8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9,30 мг/кг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722BC-9F6D-4396-9BB9-66E7F5A8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Hard constraints → затем proxy-ранжирование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15ED7-0A58-4185-99A1-82C2814E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00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Переход и физические единицы требуют инженерной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88142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C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53846-CFA8-43A8-B61C-0B85EE35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ОПТИМИЗАЦИЯ БЛЕНДИНГА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C9198-8636-4940-A5FF-E8815C73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Блендинг решает качество до оценки стоимости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B3188-2983-4A44-B070-93E490CD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D7C05-0964-48F3-8570-51AE2834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B4E8D-094D-46F4-B631-F9AF464A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3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44B36-E6DF-400F-ABC6-2141B0DC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907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Резервуар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4833D-0721-469A-AF9F-562E1630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3365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S 8,3 · T95 342 · ЦЧ 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66002-9033-4968-8885-1E955DFD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66C2D-A871-4C60-A81D-A4ABE53A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3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BD41C-213F-4DDC-B9AF-103A88FB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052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Резервуар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91A88-E785-4577-AEA4-952586F2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4815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S 6 · T95 342 · ЦЧ 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D5B5F-3E11-429D-9AEB-2FD693E8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0C550-16E1-49A6-8E58-8B6F5392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2667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211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E4651-C527-422A-9DB1-82C92412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57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Σ долей = 100%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FA3F3-4B2F-4CD2-A5E6-3ABBE01A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289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 и ЦЧ — массовый баланс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T95 — linear proxy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сетка рецепта 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0C332-341A-43B2-AED7-E982F08D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003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2049E-D83A-4BFB-B43F-AA7E0656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667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8775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B49F9-FD0D-43A1-A3BB-9859EEBC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5744B-103F-43FC-8129-EC7C90E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24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S ≤10 · T95 ≤360</a:t>
            </a:r>
          </a:p>
          <a:p xmlns:a="http://schemas.openxmlformats.org/drawingml/2006/main">
            <a:pPr>
              <a:defRPr sz="1200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ЦЧ ≥51 / ≥47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34D75-D865-469C-A30A-196D1A11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667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80AA1-A010-4025-9AB9-1F32E7EB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052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2-EHN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1B81CA-FC58-4E1E-9789-C5E2B289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767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200–3000 ppm</a:t>
            </a:r>
          </a:p>
          <a:p xmlns:a="http://schemas.openxmlformats.org/drawingml/2006/main">
            <a:pPr>
              <a:def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hard effect +4 / 1000 ppm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08717-BF4E-41C8-8D13-25866B20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4A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34A40"/>
                </a:solidFill>
                <a:latin typeface="Helvetica Neue"/>
                <a:ea typeface="Helvetica Neue"/>
                <a:cs typeface="Helvetica Neue"/>
              </a:rPr>
              <a:t>1 т присадки = 100 т ДТ</a:t>
            </a:r>
          </a:p>
        </p:txBody>
      </p:sp>
    </p:spTree>
    <p:extLst>
      <p:ext uri="{BB962C8B-B14F-4D97-AF65-F5344CB8AC3E}">
        <p14:creationId xmlns:p14="http://schemas.microsoft.com/office/powerpoint/2010/main" val="10238105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7C1113-83AE-4194-AC9D-1FB974A5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ВОСПРОИЗВОДИМОСТЬ И БЕЗОПАСНОСТЬ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3E09A-D501-4BE0-9418-5932977B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Эксперт получает работающий продукт одной командой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E61D6-DA42-4292-A0CB-048BEBDF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DE143-6069-44AF-AF8B-D3D55958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./scripts/demo.sh 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CECA0-57A3-45F0-A75C-0D66301E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3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D73C7-2BF1-4B14-91A8-DA02B64E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956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28E64-A4F1-49BB-998C-8C8EBF32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956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18,3 млн строк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B0D6A-BBE9-410C-A1C3-16B96871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480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1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FF4BA-E006-4C63-B665-CDD058AD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14625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3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C6D2E-A450-4A45-BEF9-4501030D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956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train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892E9-2A50-4E76-8107-DAF0849F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956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F32A5-4586-4810-9D0F-78BC1469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1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94C89-0437-4CFD-BEBA-FF605BE8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14625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3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07704-B9F1-4A42-A8D8-CA19E29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956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modelled-train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F4EAF-2091-4F06-AB10-4F4FAABA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956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response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24CBD-1B0A-41D5-A95C-71C083A9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0480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1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8C823-8518-4CF2-9BE5-57296DFE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3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3CB47-00CF-4B4E-A50E-2336EEE2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956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migrate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0C0BA9-2FA2-46B9-B851-F8CC8114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077A6-E76D-4DB9-8271-0DF33A7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480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1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75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E149E-2EC0-4D5B-87F6-BB284F93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14625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8775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D6BD59-11FB-4C44-8B63-C25548BF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956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882DB-35F6-4EB2-98AE-BEB8D2F7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2956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nginx :8080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BB0B98-9993-4FEA-AE9A-BAFAA482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188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FA2ED2-E95D-4817-B2C6-5902B16D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4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Python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81124-4761-4196-86DF-FFF936AE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196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40EF9-B4C2-4B47-852C-E409A6C1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24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frontend tests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3DF09-FF24-46A0-9DCF-C58BEB4D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96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5/5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FEA3A-7737-4F2C-9753-2173713B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24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browser E2E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0109D2-6776-4C98-9C39-492D1D52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C6B0FA-58DB-485F-90E7-B2F2F040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24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A72"/>
                </a:solidFill>
                <a:latin typeface="Helvetica Neue"/>
                <a:ea typeface="Helvetica Neue"/>
                <a:cs typeface="Helvetica Neue"/>
              </a:rPr>
              <a:t>console errors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7D866D-CB15-40F3-8D87-9EBC00C1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0993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E7829E-EBB0-4E5E-856B-1D826357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9245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replay ≠ what-if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E52E4-6D18-4A94-8EFA-2B8A0D4E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05500"/>
            <a:ext cx="1524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DE8C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556572-0294-4FCE-885A-26C6D701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9245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localhost only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42075D-663C-4D12-844C-BE39E08F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05500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DE8C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B8C92E-AA7A-4D3E-B381-B445F104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9245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immutable JSONB</a:t>
            </a:r>
          </a:p>
        </p:txBody>
      </p:sp>
    </p:spTree>
    <p:extLst>
      <p:ext uri="{BB962C8B-B14F-4D97-AF65-F5344CB8AC3E}">
        <p14:creationId xmlns:p14="http://schemas.microsoft.com/office/powerpoint/2010/main" val="12242892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C4035-E83B-4A14-8869-11D5B4B5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NEFTECODE ADVISOR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7A749-700C-4C51-BBCD-160039CA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Прототип готов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 пяти минутам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EA3EA-7023-409B-B0AB-41F276DC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95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775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49847-1DF4-40AD-A074-3EE7ABE6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670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65E44-29CE-4629-A8CD-D0BDB51F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9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Честно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8AD2C-1A28-4A14-A1D3-AC4E5D35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D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ED7CE"/>
                </a:solidFill>
                <a:latin typeface="Helvetica Neue"/>
                <a:ea typeface="Helvetica Neue"/>
                <a:cs typeface="Helvetica Neue"/>
              </a:rPr>
              <a:t>forecast и action effect разделены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CC66E-9738-4447-8AF2-6E6765C8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95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775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4770A-9022-488D-BBEF-36678256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43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D895E-2903-4BEA-AA1C-5AC87542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671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Полно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5915D-98A8-4D97-8635-2F676225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D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ED7CE"/>
                </a:solidFill>
                <a:latin typeface="Helvetica Neue"/>
                <a:ea typeface="Helvetica Neue"/>
                <a:cs typeface="Helvetica Neue"/>
              </a:rPr>
              <a:t>АВТ → гидроочистка → блендинг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2C32D-9D7F-48BD-A48E-6043CA53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775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01462-A1D4-4899-AD8F-DAF8A893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7815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E401E-477F-4763-819E-B316B7B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24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8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Воспроизводимо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BC968-6CA4-4C33-B82B-93D591A3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D7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ED7CE"/>
                </a:solidFill>
                <a:latin typeface="Helvetica Neue"/>
                <a:ea typeface="Helvetica Neue"/>
                <a:cs typeface="Helvetica Neue"/>
              </a:rPr>
              <a:t>код, БД, dashboard, отчёт, deck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5E898-B4F6-490E-ACA8-7AB92969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14300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8775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68AE3-B2B8-4B97-98E4-911ECBB3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24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Запуск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FA219-45B0-429C-ADE3-C765C93E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852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211A"/>
                </a:solidFill>
                <a:latin typeface="Helvetica Neue"/>
                <a:ea typeface="Helvetica Neue"/>
                <a:cs typeface="Helvetica Neue"/>
              </a:rPr>
              <a:t>./scripts/demo.sh 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34645-760E-4CA3-875F-0581C30A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http://127.0.0.1:8080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E1B7A-28C6-4895-B65D-EEF8E92E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DE8CA"/>
                </a:solidFill>
                <a:latin typeface="Helvetica Neue"/>
                <a:ea typeface="Helvetica Neue"/>
                <a:cs typeface="Helvetica Neue"/>
              </a:rPr>
              <a:t>Рекомендации не исполняются автоматически.</a:t>
            </a:r>
          </a:p>
        </p:txBody>
      </p:sp>
    </p:spTree>
    <p:extLst>
      <p:ext uri="{BB962C8B-B14F-4D97-AF65-F5344CB8AC3E}">
        <p14:creationId xmlns:p14="http://schemas.microsoft.com/office/powerpoint/2010/main" val="1929914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2026-09-22T15:07:23.2930000Z</dcterms:created>
  <dcterms:modified xsi:type="dcterms:W3CDTF">2026-09-22T15:07:23.2930000Z</dcterms:modified>
</coreProperties>
</file>