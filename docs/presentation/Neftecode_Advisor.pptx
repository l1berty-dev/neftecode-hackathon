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97a8d01f9143ba" /><Relationship Type="http://schemas.openxmlformats.org/officeDocument/2006/relationships/extended-properties" Target="/docProps/app.xml" Id="R43617d91059f4dab" /><Relationship Type="http://schemas.openxmlformats.org/officeDocument/2006/relationships/officeDocument" Target="/ppt/presentation.xml" Id="R9e27db3f056645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8a31fa7b0c44e8"/>
  </p:sldMasterIdLst>
  <p:notesMasterIdLst>
    <p:notesMasterId xmlns:r="http://schemas.openxmlformats.org/officeDocument/2006/relationships" r:id="Ra0361d4808044060"/>
  </p:notesMasterIdLst>
  <p:sldIdLst>
    <p:sldId xmlns:r="http://schemas.openxmlformats.org/officeDocument/2006/relationships" id="256" r:id="Rcebd9a22d0264630"/>
    <p:sldId xmlns:r="http://schemas.openxmlformats.org/officeDocument/2006/relationships" id="257" r:id="R27d249f88a614408"/>
    <p:sldId xmlns:r="http://schemas.openxmlformats.org/officeDocument/2006/relationships" id="258" r:id="R171336387be8496e"/>
    <p:sldId xmlns:r="http://schemas.openxmlformats.org/officeDocument/2006/relationships" id="259" r:id="Rac49eeaf71594f9e"/>
    <p:sldId xmlns:r="http://schemas.openxmlformats.org/officeDocument/2006/relationships" id="260" r:id="Rcb4e98e5b3a44ad2"/>
    <p:sldId xmlns:r="http://schemas.openxmlformats.org/officeDocument/2006/relationships" id="261" r:id="Rfe0ff8091bff4f6d"/>
    <p:sldId xmlns:r="http://schemas.openxmlformats.org/officeDocument/2006/relationships" id="262" r:id="Rb1dbec0021cb4116"/>
    <p:sldId xmlns:r="http://schemas.openxmlformats.org/officeDocument/2006/relationships" id="263" r:id="R798064dff77045b8"/>
    <p:sldId xmlns:r="http://schemas.openxmlformats.org/officeDocument/2006/relationships" id="264" r:id="Rb92bf1b08a0e4e6a"/>
    <p:sldId xmlns:r="http://schemas.openxmlformats.org/officeDocument/2006/relationships" id="265" r:id="Rca02c277043d4e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9020a2cb6948e9" /><Relationship Type="http://schemas.openxmlformats.org/officeDocument/2006/relationships/slideMaster" Target="/ppt/slideMasters/slideMaster1.xml" Id="R698a31fa7b0c44e8" /><Relationship Type="http://schemas.openxmlformats.org/officeDocument/2006/relationships/notesMaster" Target="/ppt/notesMasters/notesMaster1.xml" Id="Ra0361d4808044060" /><Relationship Type="http://schemas.openxmlformats.org/officeDocument/2006/relationships/presProps" Target="/ppt/presProps.xml" Id="Rc82a388222ff4a5c" /><Relationship Type="http://schemas.openxmlformats.org/officeDocument/2006/relationships/tableStyles" Target="/ppt/tableStyles.xml" Id="Rcf05b87091ef4492" /><Relationship Type="http://schemas.openxmlformats.org/officeDocument/2006/relationships/slide" Target="/ppt/slides/slide1.xml" Id="Rcebd9a22d0264630" /><Relationship Type="http://schemas.openxmlformats.org/officeDocument/2006/relationships/slide" Target="/ppt/slides/slide2.xml" Id="R27d249f88a614408" /><Relationship Type="http://schemas.openxmlformats.org/officeDocument/2006/relationships/slide" Target="/ppt/slides/slide3.xml" Id="R171336387be8496e" /><Relationship Type="http://schemas.openxmlformats.org/officeDocument/2006/relationships/slide" Target="/ppt/slides/slide4.xml" Id="Rac49eeaf71594f9e" /><Relationship Type="http://schemas.openxmlformats.org/officeDocument/2006/relationships/slide" Target="/ppt/slides/slide5.xml" Id="Rcb4e98e5b3a44ad2" /><Relationship Type="http://schemas.openxmlformats.org/officeDocument/2006/relationships/slide" Target="/ppt/slides/slide6.xml" Id="Rfe0ff8091bff4f6d" /><Relationship Type="http://schemas.openxmlformats.org/officeDocument/2006/relationships/slide" Target="/ppt/slides/slide7.xml" Id="Rb1dbec0021cb4116" /><Relationship Type="http://schemas.openxmlformats.org/officeDocument/2006/relationships/slide" Target="/ppt/slides/slide8.xml" Id="R798064dff77045b8" /><Relationship Type="http://schemas.openxmlformats.org/officeDocument/2006/relationships/slide" Target="/ppt/slides/slide9.xml" Id="Rb92bf1b08a0e4e6a" /><Relationship Type="http://schemas.openxmlformats.org/officeDocument/2006/relationships/slide" Target="/ppt/slides/slide10.xml" Id="Rca02c277043d4e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014bf470a54c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f037857a1a4be6" /><Relationship Type="http://schemas.openxmlformats.org/officeDocument/2006/relationships/notesMaster" Target="/ppt/notesMasters/notesMaster1.xml" Id="R3a3f643240464e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59e224bd7b4669" /><Relationship Type="http://schemas.openxmlformats.org/officeDocument/2006/relationships/notesMaster" Target="/ppt/notesMasters/notesMaster1.xml" Id="Rcc4a82151a134b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ebd96070d345d6" /><Relationship Type="http://schemas.openxmlformats.org/officeDocument/2006/relationships/notesMaster" Target="/ppt/notesMasters/notesMaster1.xml" Id="R9c2021bcc4d449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7dcd6d55114a41" /><Relationship Type="http://schemas.openxmlformats.org/officeDocument/2006/relationships/notesMaster" Target="/ppt/notesMasters/notesMaster1.xml" Id="Rbdf58b700abb49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bf6196cb9d41d9" /><Relationship Type="http://schemas.openxmlformats.org/officeDocument/2006/relationships/notesMaster" Target="/ppt/notesMasters/notesMaster1.xml" Id="R6ffe9b83ce2349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fdf3977f104203" /><Relationship Type="http://schemas.openxmlformats.org/officeDocument/2006/relationships/notesMaster" Target="/ppt/notesMasters/notesMaster1.xml" Id="R8e019d20a90244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3ed87ca8e347ab" /><Relationship Type="http://schemas.openxmlformats.org/officeDocument/2006/relationships/notesMaster" Target="/ppt/notesMasters/notesMaster1.xml" Id="R45ed4dbf3c9947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18f3a3276c4599" /><Relationship Type="http://schemas.openxmlformats.org/officeDocument/2006/relationships/notesMaster" Target="/ppt/notesMasters/notesMaster1.xml" Id="Re2ef2b6680264b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7e8afe3f7548eb" /><Relationship Type="http://schemas.openxmlformats.org/officeDocument/2006/relationships/notesMaster" Target="/ppt/notesMasters/notesMaster1.xml" Id="Rc4a141ee494447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63bd34c15e48cb" /><Relationship Type="http://schemas.openxmlformats.org/officeDocument/2006/relationships/notesMaster" Target="/ppt/notesMasters/notesMaster1.xml" Id="R1c3e23ac21ef45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dashboard screenshot generated by frontend/scripts/e2e.mjs on 2026-09-22.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 and frontend/src/components/ModelledDashboard.tsx.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docs/DATA_PREPARATION.md; artifacts/metrics.json; organizer clarification: LIMS timestamp is sample time, publication delay up to 4h.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src/neftecode_hackathon/contracts.py, api, orchestration and persistence packages.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docs/RESULTS.md and artifacts/metrics.json. Validation persistence MAE 0.573; test 0.706. Test HGB MAE 1.184.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image: context/АВТ_схемы.pdf, page 2. Formulas: organizer clarifications recorded in docs/ORGANIZER_CLARIFICATIONS.md.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live dashboard screenshot and modelled preset sulfur-shock. Values are explicit modelled what-if outputs, not plant setpoints.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Quality limits source: TR TS 013/2011 Appendix 3, https://eec.eaeunion.org/upload/medialibrary/4ae/P_826_1.pdf. 2-EHN assumptions from organizer clarification and model config.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clean demo Compose run on 2026-09-22; pytest and frontend command outputs; frontend/scripts/e2e.mjs.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README.md. No participant names requested.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6ee1185554d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ed091fa96c4be6" /><Relationship Type="http://schemas.openxmlformats.org/officeDocument/2006/relationships/slideLayout" Target="/ppt/slideLayouts/slideLayout1.xml" Id="R900bf8a1fa7d46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0bf8a1fa7d46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37b40532b48c7" /><Relationship Type="http://schemas.openxmlformats.org/officeDocument/2006/relationships/image" Target="/ppt/media/image.png" Id="Rfe6c5a799a044319" /><Relationship Type="http://schemas.openxmlformats.org/officeDocument/2006/relationships/notesSlide" Target="/ppt/notesSlides/notesSlide1.xml" Id="Rfef32168408b49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dcf9f3b04453b" /><Relationship Type="http://schemas.openxmlformats.org/officeDocument/2006/relationships/notesSlide" Target="/ppt/notesSlides/notesSlide2.xml" Id="R6296b0e7a95d4c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ec7b1cf97472d" /><Relationship Type="http://schemas.openxmlformats.org/officeDocument/2006/relationships/notesSlide" Target="/ppt/notesSlides/notesSlide3.xml" Id="R275b3f21485a4b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2cd1fc6784ce5" /><Relationship Type="http://schemas.openxmlformats.org/officeDocument/2006/relationships/notesSlide" Target="/ppt/notesSlides/notesSlide4.xml" Id="R15dbfac20c214f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f650d6a334c19" /><Relationship Type="http://schemas.openxmlformats.org/officeDocument/2006/relationships/chart" Target="/ppt/slides/charts/chart1.xml" Id="R235ff9d822e549c0" /><Relationship Type="http://schemas.openxmlformats.org/officeDocument/2006/relationships/notesSlide" Target="/ppt/notesSlides/notesSlide5.xml" Id="Rb3dfa42ca1834c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eab9fe9e94d95" /><Relationship Type="http://schemas.openxmlformats.org/officeDocument/2006/relationships/image" Target="/ppt/media/image.jpeg" Id="R63dccc38c0114666" /><Relationship Type="http://schemas.openxmlformats.org/officeDocument/2006/relationships/notesSlide" Target="/ppt/notesSlides/notesSlide6.xml" Id="Re83618931bab4d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8d922e7364431" /><Relationship Type="http://schemas.openxmlformats.org/officeDocument/2006/relationships/image" Target="/ppt/media/image2.png" Id="Rbbf3107e2379472d" /><Relationship Type="http://schemas.openxmlformats.org/officeDocument/2006/relationships/notesSlide" Target="/ppt/notesSlides/notesSlide7.xml" Id="R7427fa52f8474b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071670a69436c" /><Relationship Type="http://schemas.openxmlformats.org/officeDocument/2006/relationships/notesSlide" Target="/ppt/notesSlides/notesSlide8.xml" Id="Rafeab0b80ad343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6b393b6e34f0c" /><Relationship Type="http://schemas.openxmlformats.org/officeDocument/2006/relationships/notesSlide" Target="/ppt/notesSlides/notesSlide9.xml" Id="R89a8b54c85fb4d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e1d16ca604818" /><Relationship Type="http://schemas.openxmlformats.org/officeDocument/2006/relationships/notesSlide" Target="/ppt/notesSlides/notesSlide10.xml" Id="Reced6a68dac04a4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Persistence</c:v>
          </c:tx>
          <c:spPr>
            <a:solidFill xmlns:a="http://schemas.openxmlformats.org/drawingml/2006/main">
              <a:srgbClr val="08775A"/>
            </a:solidFill>
          </c:spPr>
          <c:cat>
            <c:strRef>
              <c:f>'Chart Data'!$A$2:$A$3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0.573</c:v>
                </c:pt>
                <c:pt idx="1">
                  <c:v>0.706</c:v>
                </c:pt>
              </c:numCache>
            </c:numRef>
          </c:val>
        </c:ser>
        <c:ser>
          <c:idx val="1"/>
          <c:order val="1"/>
          <c:tx>
            <c:v>HGB</c:v>
          </c:tx>
          <c:spPr>
            <a:solidFill xmlns:a="http://schemas.openxmlformats.org/drawingml/2006/main">
              <a:srgbClr val="E09938"/>
            </a:solidFill>
          </c:spPr>
          <c:cat>
            <c:strRef>
              <c:f>'Chart Data'!$C$2:$C$3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0.621</c:v>
                </c:pt>
                <c:pt idx="1">
                  <c:v>1.184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iberation Sans"/>
                  <a:ea typeface="Liberation Sans"/>
                  <a:cs typeface="Liberation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Liberation Sans"/>
              <a:ea typeface="Liberation Sans"/>
              <a:cs typeface="Liberation Sans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6282C-EFFA-4418-B219-5BA3264D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-762000"/>
            <a:ext cx="5905500" cy="8382000"/>
          </a:xfrm>
          <a:prstGeom xmlns:a="http://schemas.openxmlformats.org/drawingml/2006/main" prst="roundRect">
            <a:avLst>
              <a:gd name="adj" fmla="val 1935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16CFF-4B4C-4F60-B6DB-9AF274C7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NEFTECODE ADVISOR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5CC2D-0E6D-41F0-A988-C546CF77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688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Советчик для полной</a:t>
            </a:r>
          </a:p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цепочки дизельного топлива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10CA9-8680-4F2F-8A6B-CD307E17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АВТ → гидроочистка → блендинг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568A2-F62C-4ADE-86C7-28C7E1DD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5429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rPr>
              <a:t>Два честно разделённых режима: исторический прогноз и редактируемый modelled what-if.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DF6B9-7C6B-4A9A-A7D1-527650B8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30003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0993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29718-E777-4F77-B505-1121C5B9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505450"/>
            <a:ext cx="28289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НЕ УПРАВЛЯЕТ ОБОРУДОВАНИЕМ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c5a799a044319"/>
          <a:srcRect xmlns:a="http://schemas.openxmlformats.org/drawingml/2006/main" l="0" t="10611" r="0" b="106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77125" y="1047750"/>
            <a:ext cx="4095750" cy="4857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</p:spTree>
    <p:extLst>
      <p:ext uri="{BB962C8B-B14F-4D97-AF65-F5344CB8AC3E}">
        <p14:creationId xmlns:p14="http://schemas.microsoft.com/office/powerpoint/2010/main" val="16456037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C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EC827A-ACA2-42C1-B106-1F4E3B7E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РАБОЧИЙ ПРОЦЕСС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58377-0DDB-46DC-BDD7-23E8258E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Оператор получает решение, а не ещё один график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D81FD-FCE0-4A84-A5BE-985508AB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3D96F-81E4-4E7C-BD06-26659EE9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2000250" cy="2476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896EA-F207-4412-B109-977FE0D1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0025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5C9DC7-5655-4C8F-89CB-FFFC4022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01C32-C388-4355-B620-189B02C1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7175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Выбрать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E13DD-78D6-4F81-86D8-D2358AC4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0515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готовый preset или свой ввод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385D4-8F4D-442B-8649-3BDC606D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575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C46D75-6854-4272-8609-5B6C673F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809750"/>
            <a:ext cx="2000250" cy="2476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11F6ED-AA71-4FFA-8D91-66172344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0025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7694E-B2B4-4FDF-83FC-B087D19D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1930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D8538-0948-4D0E-ADC8-D801CE50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57175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Изменить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1AD4B4-BCF9-4E55-B257-0DE4803D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10515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сырьё, P8/T11/F19, spec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41F0F-F428-47C8-95B2-A460993B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575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B3D9E0-CF86-4B87-8A81-80ED83EB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809750"/>
            <a:ext cx="2000250" cy="2476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EFCFD-0A10-4E3D-B864-40F0DFE3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00025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EBD1F-109A-4128-BC52-BA7BC68B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1930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02253-C969-495A-8B74-60E5D189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57175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Сравнить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26FB2E-6A18-4455-BD08-1D08A031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0515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baseline, system, operator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8FB829-F1FA-4550-A0FA-F7097D96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575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B80C8-4F03-4669-8BE9-6F7E9388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809750"/>
            <a:ext cx="2000250" cy="2476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03795F-AB43-4B37-BF69-15A1E225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0025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C9BE9E-2D57-40F0-B5F8-B085A6D3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1930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DC6AED-4959-4B00-BAD4-668D0170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7175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Проверить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C32ACB-D9BE-4D58-80C3-92DCD2A5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0515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качество раньше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ED13E4-263C-490E-B263-B8FE3241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8575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EAF75F-8DD9-4F4F-9AEF-49919CAC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809750"/>
            <a:ext cx="2000250" cy="2476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42A0D4-1D2C-4045-8C6C-F42384F7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00025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3F38B-E548-4112-8F24-56E1373D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01930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90B16F-A8AC-4D78-B1E1-0976B951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57175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Сохранить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5C73A0-BE48-4735-B1A2-359BEEF1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10515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полный run и версии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8DEA61-0793-43BD-9244-9ECBA76C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99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Ввод остаётся редактируемым. Preset — только начальная точка.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1C62A4-5A45-46EE-9FD2-40654FF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9339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032197-5502-4197-BD0B-780E3C4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530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180 мин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ECAB14-6262-4131-9C13-11B06572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4097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82A3B0-A227-4880-BD9F-1DA8C31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49530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шаг 60 мин</a:t>
            </a:r>
          </a:p>
        </p:txBody>
      </p:sp>
    </p:spTree>
    <p:extLst>
      <p:ext uri="{BB962C8B-B14F-4D97-AF65-F5344CB8AC3E}">
        <p14:creationId xmlns:p14="http://schemas.microsoft.com/office/powerpoint/2010/main" val="123114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504ED-16E8-4968-B7AC-D641CE6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ДАННЫЕ И ЗАЩИТА ОТ УТЕЧКИ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2E345-BB6B-4754-82F5-51809BA7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В момент t система знает только опубликованное к 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8DB90-51C9-422F-A259-E619AC7E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1B642-5002-4563-B92A-4EB2BB3A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отбор ЛИМС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1D47C5-7F8A-4AD3-9C93-CD262E97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0993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1">
                <a:solidFill>
                  <a:srgbClr val="E09938"/>
                </a:solidFill>
                <a:latin typeface="Liberation Sans"/>
                <a:ea typeface="Liberation Sans"/>
                <a:cs typeface="Liberation Sans"/>
              </a:rPr>
              <a:t>+ до 4 часов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81438-30DC-4EE0-88FA-DCEB2D37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доступно модели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67178-D365-4C64-B3BA-9D451AAB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96202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DC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46E5E-F598-4CAA-97AC-51AC465D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81225"/>
            <a:ext cx="209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11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9C72FC-D594-4762-898D-739065B6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81225"/>
            <a:ext cx="209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93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F7A183-C8EB-4015-B40B-CCD81454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81225"/>
            <a:ext cx="209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4003D-EAE9-443E-A9DD-78185083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measured_at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7FB11-090C-4BDB-A2BB-2FCF895D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003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available_at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666750" y="3381375"/>
          <a:ext xmlns:a="http://schemas.openxmlformats.org/drawingml/2006/main" cx="10858500" cy="2000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3619500"/>
                <a:gridCol w="3619500"/>
              </a:tblGrid>
              <a:tr h="500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Правило</a:t>
                      </a:r>
                    </a:p>
                  </a:txBody>
                  <a:tcPr marL="91440" marR="91440" marT="45720" marB="45720">
                    <a:solidFill>
                      <a:srgbClr val="0B21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Реализация</a:t>
                      </a:r>
                    </a:p>
                  </a:txBody>
                  <a:tcPr marL="91440" marR="91440" marT="45720" marB="45720">
                    <a:solidFill>
                      <a:srgbClr val="0B21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Проверка</a:t>
                      </a:r>
                    </a:p>
                  </a:txBody>
                  <a:tcPr marL="91440" marR="91440" marT="45720" marB="45720">
                    <a:solidFill>
                      <a:srgbClr val="0B211A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Временной split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70 / 15 / 15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test не участвует в выборе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Purge границ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target &lt; next origin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6 + 6 строк удалено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Источники качества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ЛИМС → ПАК → VAK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211A"/>
                          </a:solidFill>
                        </a:rPr>
                        <a:t>freshness обязателен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060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C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04A7B8-CAB5-42AD-B3A6-2E89CD94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АРХИТЕКТУРА АГЕНТОВ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7D8CA-3670-486D-95B2-5485ECD5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Один контракт связывает расчёт, API, БД и 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1E586-0983-4395-AC56-0BF5379D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F84C3F-44C6-4A5B-8946-71BF1ECB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809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FDE2C-320D-439E-83D8-16BA7BF1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1543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Snapshot / 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28A72-7535-4052-ACEB-D39583B4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point-in-time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935A2-CB87-403D-B4EA-7D4AB4FC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24000"/>
            <a:ext cx="2095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C0130-AA48-490C-BEF0-BCF7DC26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6764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84DD0F-DDAC-4A79-8E4C-3F8C0848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0025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forecast +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B45085-4513-4BED-B605-AC9821F1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095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D17F6-E6CA-4704-836E-504F761F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956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Reliability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7A9125-B540-4944-8BF8-20B72668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1950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severity proxy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FF079-1791-4C2D-8734-4D51F38B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333625"/>
            <a:ext cx="2095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DB5CC3-7189-4CB3-AAC1-B924C4BB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86025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Evaluator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DEAE1C-D17B-4B53-B43B-D6437367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09875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hard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A00F8-24F6-46EC-901D-DDD3BE56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1714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3E0921-B3D1-409C-9694-07BAE57F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Coordinator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DCF02-FE16-4BDB-9E5E-86135ADE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09875"/>
            <a:ext cx="144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rank + explain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FACF9D-2DCD-4C97-A214-2CB42245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524000"/>
            <a:ext cx="1333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81C0BF-043C-4923-87B5-B9F103FA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6764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React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83596D-5125-452C-8802-B2ADA873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0002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compare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424B4-08C9-4CB2-8DFF-EBCB876E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0"/>
            <a:ext cx="1333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B23C87-10CA-48D1-9E9F-1DB8AD85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2956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79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PostgreSQL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4FABE0-7385-4737-B7F0-36710E53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6195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audit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0F21E-A9AC-485E-8F9D-B053BECC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E8410A-2C15-49D6-93A6-D428CAC5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5ACBB8-03E1-41A9-A7DC-AC74465D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ED08F0-E36E-4ACE-8432-342F87A6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90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3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6B4622-E350-459F-9FD7-56D2D721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9530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contracts.py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6E4E6-2D1D-4D7A-BC73-E747B882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721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единый DTO · OpenAPI · generated TypeScript</a:t>
            </a:r>
          </a:p>
        </p:txBody>
      </p:sp>
    </p:spTree>
    <p:extLst>
      <p:ext uri="{BB962C8B-B14F-4D97-AF65-F5344CB8AC3E}">
        <p14:creationId xmlns:p14="http://schemas.microsoft.com/office/powerpoint/2010/main" val="1842621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28E74-248E-4355-9D61-8651B0E5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КАЧЕСТВО HISTORICAL FORECAST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521D5-7C45-4A99-ADC7-A9F24085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Простая модель победила — и мы это показали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47AEED-4980-48AD-8AEB-C6A7FBB4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66750" y="1619250"/>
          <a:ext xmlns:a="http://schemas.openxmlformats.org/drawingml/2006/main" cx="66675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5ff9d822e549c0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F05E7-CC2D-48F3-AF15-4ABCD006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906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MAE, мг/кг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394DAB-E179-468B-AE8E-677CD0B3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211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F019F-A8BE-4F64-A241-B2C8679A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079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1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0,706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B685C-1069-420E-B562-7F6CE57A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288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test MAE · n=28 447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F71C80-56FC-49C3-ACAD-BBABCB3B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3375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CF3E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11873-59F0-407A-B69B-E4FABF60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81,9%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D07EE8-EB25-431D-9CB4-4A131F17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671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test coverage q90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50C4CC-5629-498A-8360-2EAB32AA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5770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Интервал откалиброван на validation; на test только измерен.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B30E0B-8928-4CAF-B201-A27F0C84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34A4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B34A40"/>
                </a:solidFill>
                <a:latin typeface="Liberation Sans"/>
                <a:ea typeface="Liberation Sans"/>
                <a:cs typeface="Liberation Sans"/>
              </a:rPr>
              <a:t>Это прогноз продолжения процесса, не доказательство эффекта действия.</a:t>
            </a:r>
          </a:p>
        </p:txBody>
      </p:sp>
    </p:spTree>
    <p:extLst>
      <p:ext uri="{BB962C8B-B14F-4D97-AF65-F5344CB8AC3E}">
        <p14:creationId xmlns:p14="http://schemas.microsoft.com/office/powerpoint/2010/main" val="20966216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C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2DA942-A5AE-4E02-9120-AB0B4E7F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МОДЕЛЬ ПОЛНОЙ ЦЕПОЧКИ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76857A-7DF8-43E7-8638-E037AF91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Полная цепочка собрана из проверяемых стадий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C6765-1035-4799-8541-85C2477B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ccc38c0114666"/>
          <a:stretch xmlns:a="http://schemas.openxmlformats.org/drawingml/2006/main"/>
        </p:blipFill>
        <p:spPr>
          <a:xfrm xmlns:a="http://schemas.openxmlformats.org/drawingml/2006/main">
            <a:off x="552450" y="1611722"/>
            <a:ext cx="5429250" cy="3844105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66189-51C9-4F9F-8B6A-68D4CA55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38300"/>
            <a:ext cx="4381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184C5-54E4-415C-8FA0-67FFE5E3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АВТ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B1BE1-99A6-4014-9D33-852DDFE4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6212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VAK: T50/T90/T95</a:t>
            </a:r>
          </a:p>
          <a:p xmlns:a="http://schemas.openxmlformats.org/drawingml/2006/main">
            <a:pPr>
              <a:def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CloudPoint / CFPP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B9D59-833F-450E-95F2-9DF7CE41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670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A4DEF-71D8-478D-919D-85503639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28950"/>
            <a:ext cx="4381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CEFF3-5358-4CF4-B4FF-F9C7C411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Гидроочистка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BDDEA9-36D9-474E-96D9-FC3E96B4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5277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P8 · T11 · F19</a:t>
            </a:r>
          </a:p>
          <a:p xmlns:a="http://schemas.openxmlformats.org/drawingml/2006/main">
            <a:pPr>
              <a:defRPr sz="1125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response + q90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DEEE0-2291-4705-9244-306FE13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576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8D783E-AA9E-4506-853A-3CEFA252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19600"/>
            <a:ext cx="4381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0771A5-D829-4313-ACD9-38F21C7F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33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Блендинг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763406-3EBE-4BFC-B2CE-97FA1EAD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4342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S / T95 / ЦЧ</a:t>
            </a:r>
          </a:p>
          <a:p xmlns:a="http://schemas.openxmlformats.org/drawingml/2006/main">
            <a:pPr>
              <a:def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2-EHN + cost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59BB9-71AF-4DD1-91C1-CB05A54E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VAK проверяет missing и division-by-zero</a:t>
            </a:r>
          </a:p>
        </p:txBody>
      </p:sp>
    </p:spTree>
    <p:extLst>
      <p:ext uri="{BB962C8B-B14F-4D97-AF65-F5344CB8AC3E}">
        <p14:creationId xmlns:p14="http://schemas.microsoft.com/office/powerpoint/2010/main" val="56888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22E241-25ED-4651-96C4-253C9B7F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СЦЕНАРИЙ РОСТА СЕРЫ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5153D-D7E0-4348-BB16-71CDBA3A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Рост серы превращается в объяснимый план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43F834-2ED2-4A0E-B2BE-6EDCDE80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107e2379472d"/>
          <a:srcRect xmlns:a="http://schemas.openxmlformats.org/drawingml/2006/main" l="0" t="24454" r="0" b="244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28750"/>
            <a:ext cx="619125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FBF62-6307-4C84-BC98-BCA845AB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3830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3E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BE56F6-E8A9-4878-864D-64348EFF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573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ПРИЧИНА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AC069B-F49B-428A-802F-F8A22F73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193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0,90 → 1,08% масс.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D9C3B-98B0-44E4-820E-B54E55A6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11430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0993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BAAF2-334A-43E1-B3BA-5923C5E3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00350"/>
            <a:ext cx="971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9BD8C4-CE7C-441E-9536-90214303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B34A4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B34A40"/>
                </a:solidFill>
                <a:latin typeface="Liberation Sans"/>
                <a:ea typeface="Liberation Sans"/>
                <a:cs typeface="Liberation Sans"/>
              </a:rPr>
              <a:t>10,25 мг/кг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20B3F-9E2B-4358-B91D-1DDBDAFD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24300"/>
            <a:ext cx="1619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82F02-2C4B-43B9-94A6-A8FD2EF1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943350"/>
            <a:ext cx="144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РЕКОМЕНДАЦИЯ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BD326-D108-4C70-B8BF-E0F3FA40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9,30 мг/кг 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A8905-E100-4EF2-BF9D-7EB55A82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43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8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Hard constraints → затем proxy-ранжирование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301DC-5795-4144-8FB2-7C7BC1F8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00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Переход и физические единицы требуют инженерной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5933193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C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534F23-4787-4B6C-8E48-410EFD68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ОПТИМИЗАЦИЯ БЛЕНДИНГА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9E661D-B112-430F-B76B-C90CFDF8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Блендинг решает качество до оценки стоимости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C8403-9857-4E1C-BAB3-12AE4C4C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2777A-0802-4140-967A-D9F1EB1D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25717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E84E1-2565-47BF-A6FF-9B5F7556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526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3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5CD98D-AC8C-4586-92BC-9B2B10F5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907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Резервуар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F778B-6D8D-4285-8D99-74ADE496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336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S 8,3 · T95 342 · ЦЧ 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EF1FE4-9EA5-4258-A4E0-52F56B23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5717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D837D-706B-4D0F-AA10-D112F7E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3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086A-DBD4-4BEE-A09C-7113E839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052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Резервуар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22081-1AB4-4176-825B-83D7F88E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481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75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S 6 · T95 342 · ЦЧ 52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67EC3-9192-4B4A-BDE4-C9C79A03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0375"/>
            <a:ext cx="76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14BAD0-F55D-4D8D-95FD-E17E5E0F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2667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0B211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BD313-60E9-44F9-B0E7-2A803FB6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457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Σ долей = 100%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62BCD-EBD2-4CD7-8E29-7D356E9B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028950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S и ЦЧ — массовый баланс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T95 — linear proxy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сетка рецепта 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18B4C-1737-475C-9CC3-B6B60650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00375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8A82E5-DFEC-40DB-9044-16939F21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667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B10193-FB29-4D3D-A294-D03FF49C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526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K5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844E43-B65D-43AB-A738-6BCC42CB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5241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S ≤10 · T95 ≤360</a:t>
            </a:r>
          </a:p>
          <a:p xmlns:a="http://schemas.openxmlformats.org/drawingml/2006/main">
            <a:pPr>
              <a:defRPr sz="12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ЦЧ ≥51 / ≥47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BF02D9-C2D7-458B-B536-0C4B0245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2667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241F55-8CCF-4675-A6AC-197280C7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905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2-EHN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267B58-59B3-4075-B486-36F5E4F6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2767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200–3000 ppm</a:t>
            </a:r>
          </a:p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hard effect +4 / 1000 ppm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08FBBA-016B-4E40-BFF8-9F10797E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34A4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B34A40"/>
                </a:solidFill>
                <a:latin typeface="Liberation Sans"/>
                <a:ea typeface="Liberation Sans"/>
                <a:cs typeface="Liberation Sans"/>
              </a:rPr>
              <a:t>1 т присадки = 100 т ДТ</a:t>
            </a:r>
          </a:p>
        </p:txBody>
      </p:sp>
    </p:spTree>
    <p:extLst>
      <p:ext uri="{BB962C8B-B14F-4D97-AF65-F5344CB8AC3E}">
        <p14:creationId xmlns:p14="http://schemas.microsoft.com/office/powerpoint/2010/main" val="4044414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1D4DDC-078F-479C-921A-73F32718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ВОСПРОИЗВОДИМОСТЬ И БЕЗОПАСНОСТЬ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8AA009-29FD-4720-9D18-E31D159C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Эксперт получает работающий продукт одной командой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8001F-B91D-452A-9E19-2A45BD86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0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7526B-279F-4C20-92BF-83176A6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685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./scripts/demo.sh 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D05EF-3FB3-494B-9318-963138A4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CF3E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B593B-B411-4CDE-BA1D-80EFCF5A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956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6F59C-2F92-4580-96F3-4D4F3591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2956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18,3 млн строк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75967-1BFE-4BA1-924C-9EB8F887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0480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310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22BCD-2A2D-4CE5-84CC-362184EF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14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CF3E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681269-526D-4A92-89C8-31FACBD6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956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train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D03C0-00FC-4141-BA93-527A1DC2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956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F28DED-0160-4776-B28C-A805E584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80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310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74A32-D2DE-450D-A83A-ECB46FB7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714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CF3E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B62265-19A7-4559-AA18-CB111F40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8956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modelled-train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4B302-AD44-4DE9-B8EF-32A0D539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2956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response 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272368-7A65-45E0-89A2-C80BCE60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0480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310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FA96FB-BBA1-42FF-B9E3-CACACC15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14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CF3E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9C1CA-DCB8-4926-A44A-7FDA33F7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956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migrate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1133AF-FC4F-4C71-94D0-06F671FF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956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9D14CC-6F39-4423-8D1C-AE48CCF8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480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310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08775A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A5745-37A8-4116-88C1-2CA76066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14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B5335B-D0CD-42E9-9F1E-37E11EA9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8956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serve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9777B5-07F8-4318-96D6-51C3FDC6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2956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nginx :8080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9E5731-D627-4324-968A-B9D42B39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196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195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2AA85B-6973-409B-BC27-E0844A28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24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Python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13129B-0EBC-41D6-BEA8-A4CA8D0C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196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335259-E577-4AEE-B486-7E04CCD2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124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frontend tests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9DE016-93E4-4367-9651-B4BD4C35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96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5/5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B2DB4-9B98-4CA3-AB38-DA8BA097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124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browser E2E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4C12CB-04B0-4E79-8F87-45CDB200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6196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0BCD9C-B591-4CBB-A09F-F37EDD1D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24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667A72"/>
                </a:solidFill>
                <a:latin typeface="Liberation Sans"/>
                <a:ea typeface="Liberation Sans"/>
                <a:cs typeface="Liberation Sans"/>
              </a:rPr>
              <a:t>console errors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FE0AA5-D8D4-40ED-A1DB-1C5362AF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09938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78546-0D53-4FFB-8D6C-9BA2ED6F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5924550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replay ≠ what-if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891DEC-9CA2-4558-9976-B68A218B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905500"/>
            <a:ext cx="15240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69961D-59C7-453A-B54C-6408F5FA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92455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localhost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C5B0A-F62A-4C7A-9006-18721B56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905500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DE8C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CFAB6F-8FA9-4116-80E8-2599C190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924550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immutable JSONB</a:t>
            </a:r>
          </a:p>
        </p:txBody>
      </p:sp>
    </p:spTree>
    <p:extLst>
      <p:ext uri="{BB962C8B-B14F-4D97-AF65-F5344CB8AC3E}">
        <p14:creationId xmlns:p14="http://schemas.microsoft.com/office/powerpoint/2010/main" val="3821233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2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B9F75-2F06-4C79-9938-527A04EA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NEFTECODE ADVISOR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6312F-FBBE-49B5-9E2D-BC74E2E6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647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Прототип готов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к пяти минутам проверки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1DE8E-3100-4A27-9D27-E8BA7E3B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95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FDDD2-4267-4E4C-B6A3-8103AF34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670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1C58F-F097-40FE-B283-5E6EC79C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9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Честно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3F7FA-838E-4E07-AD87-5F6771F4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99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rPr>
              <a:t>forecast и action effect разделены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96EF8-4B77-4B01-9A8F-FF0C3E18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95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8BA1D-FFB1-46DC-8C79-4FAFD75B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9243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57B1B-DBA0-4CFA-9633-2820411A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671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Полно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7BF61-A3F4-4F10-BF7B-F314D003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671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rPr>
              <a:t>АВТ → гидроочистка → блендинг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48621-BC1F-49D5-AFDF-6D34FB47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5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49817D-628C-4C72-A611-82E8736D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815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FD774-F4CC-4750-ACB6-04895483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244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89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Воспроизводимо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29A16-220C-43F2-A312-C15C0CE4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244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BED7CE"/>
                </a:solidFill>
                <a:latin typeface="Liberation Sans"/>
                <a:ea typeface="Liberation Sans"/>
                <a:cs typeface="Liberation Sans"/>
              </a:rPr>
              <a:t>код, БД, dashboard, отчёт, deck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2F9A9-8081-4843-BC42-BEBDA65D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143000"/>
            <a:ext cx="3429000" cy="40957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8775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94FE45-1C82-4570-9B12-D936A10D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240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Запуск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0EA288-4AA0-4DB8-9C1E-E5DA281A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1907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52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0B211A"/>
                </a:solidFill>
                <a:latin typeface="Liberation Sans"/>
                <a:ea typeface="Liberation Sans"/>
                <a:cs typeface="Liberation Sans"/>
              </a:rPr>
              <a:t>./scripts/demo.sh 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B669F-4930-42A2-AB7C-A6E164C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0480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http://127.0.0.1:8080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ECD1AF-C701-44C2-92FA-18210FAD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052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9DE8CA"/>
                </a:solidFill>
                <a:latin typeface="Liberation Sans"/>
                <a:ea typeface="Liberation Sans"/>
                <a:cs typeface="Liberation Sans"/>
              </a:rPr>
              <a:t>Рекомендации не исполняются автоматически.</a:t>
            </a:r>
          </a:p>
        </p:txBody>
      </p:sp>
    </p:spTree>
    <p:extLst>
      <p:ext uri="{BB962C8B-B14F-4D97-AF65-F5344CB8AC3E}">
        <p14:creationId xmlns:p14="http://schemas.microsoft.com/office/powerpoint/2010/main" val="4985999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2026-09-22T20:46:37.8540000Z</dcterms:created>
  <dcterms:modified xsi:type="dcterms:W3CDTF">2026-09-22T20:46:37.8540000Z</dcterms:modified>
</coreProperties>
</file>